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72" r:id="rId4"/>
    <p:sldId id="273" r:id="rId5"/>
    <p:sldId id="277" r:id="rId6"/>
    <p:sldId id="274" r:id="rId7"/>
    <p:sldId id="275" r:id="rId8"/>
    <p:sldId id="278" r:id="rId9"/>
    <p:sldId id="276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3" userDrawn="1">
          <p15:clr>
            <a:srgbClr val="A4A3A4"/>
          </p15:clr>
        </p15:guide>
        <p15:guide id="2" pos="381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93"/>
        <p:guide pos="38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1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24.png"/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10565" y="415925"/>
            <a:ext cx="19456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卡尔曼</a:t>
            </a:r>
            <a:r>
              <a:rPr lang="zh-CN" altLang="en-US"/>
              <a:t>滤波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710565" y="1031240"/>
            <a:ext cx="793496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前提：</a:t>
            </a:r>
            <a:endParaRPr lang="zh-CN" altLang="en-US"/>
          </a:p>
          <a:p>
            <a:r>
              <a:rPr lang="en-US" altLang="zh-CN"/>
              <a:t>1</a:t>
            </a:r>
            <a:r>
              <a:rPr lang="zh-CN" altLang="en-US"/>
              <a:t>、系统的状态转移模型和观测模型是线性的，</a:t>
            </a:r>
            <a:r>
              <a:rPr lang="zh-CN" altLang="en-US">
                <a:sym typeface="+mn-ea"/>
              </a:rPr>
              <a:t>系统状态转移模型准确</a:t>
            </a:r>
            <a:endParaRPr lang="zh-CN" altLang="en-US"/>
          </a:p>
          <a:p>
            <a:r>
              <a:rPr lang="en-US" altLang="zh-CN"/>
              <a:t>2</a:t>
            </a:r>
            <a:r>
              <a:rPr lang="zh-CN" altLang="en-US"/>
              <a:t>、过程噪声和测量噪声满足零均值正态分布且相互</a:t>
            </a:r>
            <a:r>
              <a:rPr lang="zh-CN" altLang="en-US"/>
              <a:t>独立</a:t>
            </a:r>
            <a:endParaRPr lang="zh-CN" altLang="en-US"/>
          </a:p>
          <a:p>
            <a:r>
              <a:rPr lang="en-US" altLang="zh-CN"/>
              <a:t>3</a:t>
            </a:r>
            <a:r>
              <a:rPr lang="zh-CN" altLang="en-US"/>
              <a:t>、初始状态估计是无偏的，初始协方差</a:t>
            </a:r>
            <a:r>
              <a:rPr lang="zh-CN" altLang="en-US"/>
              <a:t>准确</a:t>
            </a:r>
            <a:endParaRPr lang="zh-CN" altLang="en-US"/>
          </a:p>
          <a:p>
            <a:r>
              <a:rPr lang="en-US" altLang="zh-CN"/>
              <a:t>4</a:t>
            </a:r>
            <a:r>
              <a:rPr lang="zh-CN" altLang="en-US"/>
              <a:t>、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788035" y="3098165"/>
            <a:ext cx="8652510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原理：</a:t>
            </a:r>
            <a:endParaRPr lang="zh-CN" altLang="en-US"/>
          </a:p>
          <a:p>
            <a:r>
              <a:rPr lang="zh-CN" altLang="en-US"/>
              <a:t>预测值和测量值都满足正态分布，</a:t>
            </a:r>
            <a:r>
              <a:rPr lang="zh-CN" altLang="en-US">
                <a:sym typeface="+mn-ea"/>
              </a:rPr>
              <a:t>预测值</a:t>
            </a:r>
            <a:r>
              <a:rPr lang="en-US" altLang="zh-CN">
                <a:sym typeface="+mn-ea"/>
              </a:rPr>
              <a:t>=</a:t>
            </a:r>
            <a:r>
              <a:rPr lang="zh-CN" altLang="en-US">
                <a:sym typeface="+mn-ea"/>
              </a:rPr>
              <a:t>前一预测值和测量值的加权。</a:t>
            </a:r>
            <a:endParaRPr lang="zh-CN" altLang="en-US">
              <a:sym typeface="+mn-ea"/>
            </a:endParaRPr>
          </a:p>
          <a:p>
            <a:r>
              <a:rPr lang="zh-CN" altLang="en-US"/>
              <a:t>构造代价函数：预测值的方差，只要预测值的方差越小则预测准确度越高（因为预测是无偏的所以当预测值的方差越小预测值的误差波动最小，预测方差不可能为</a:t>
            </a:r>
            <a:r>
              <a:rPr lang="en-US" altLang="zh-CN"/>
              <a:t>0</a:t>
            </a:r>
            <a:r>
              <a:rPr lang="zh-CN" altLang="en-US"/>
              <a:t>只会通过求解最优的</a:t>
            </a:r>
            <a:r>
              <a:rPr lang="en-US" altLang="zh-CN"/>
              <a:t>K</a:t>
            </a:r>
            <a:r>
              <a:rPr lang="zh-CN" altLang="en-US"/>
              <a:t>使其接近</a:t>
            </a:r>
            <a:r>
              <a:rPr lang="en-US" altLang="zh-CN"/>
              <a:t>0</a:t>
            </a:r>
            <a:r>
              <a:rPr lang="zh-CN" altLang="en-US"/>
              <a:t>）</a:t>
            </a:r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17220" y="48450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状态方程和测量</a:t>
            </a:r>
            <a:r>
              <a:rPr lang="zh-CN" altLang="en-US"/>
              <a:t>方程：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本框 2"/>
              <p:cNvSpPr txBox="1"/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3" name="文本框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959485" y="1934845"/>
                <a:ext cx="8815070" cy="14763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k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时刻的真实值（基于前一时刻的状态、输入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和噪声进行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推算）</a:t>
                </a:r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：表示过程噪声，假设满足正态分布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charset="0"/>
                        <a:cs typeface="Cambria Math" panose="02040503050406030204" charset="0"/>
                      </a:rPr>
                      <m:t>P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~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𝒩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𝑄</m:t>
                        </m:r>
                      </m:e>
                    </m:d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;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均值为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0(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𝐸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𝑤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0</m:t>
                    </m:r>
                  </m:oMath>
                </a14:m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)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，方差为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Q(w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为多维向量则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Q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表示它的协方差矩阵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)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</a:t>
                </a:r>
                <a:r>
                  <a:rPr lang="en-US" altLang="zh-CN">
                    <a:latin typeface="Cambria Math" panose="02040503050406030204" charset="0"/>
                    <a:cs typeface="Cambria Math" panose="02040503050406030204" charset="0"/>
                  </a:rPr>
                  <a:t>k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时刻的观测值，由于测量噪声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它与真实值之间存在误差，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>
                        <a:latin typeface="Cambria Math" panose="02040503050406030204" charset="0"/>
                        <a:cs typeface="Cambria Math" panose="02040503050406030204" charset="0"/>
                      </a:rPr>
                      <m:t>P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𝑣</m:t>
                        </m:r>
                      </m:e>
                    </m:d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~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𝒩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0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,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𝑅</m:t>
                        </m:r>
                      </m:e>
                    </m:d>
                  </m:oMath>
                </a14:m>
                <a:endParaRPr lang="en-US" altLang="zh-CN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9485" y="1934845"/>
                <a:ext cx="8815070" cy="147637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3241675" y="4168140"/>
                <a:ext cx="5622925" cy="18173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𝑄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𝐶𝑜𝑣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𝑉𝑎𝑟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𝐶𝑜𝑣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𝐶𝑜𝑣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𝑉𝑎𝑟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  <m:sup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𝐸</m:t>
                                </m:r>
                                <m:d>
                                  <m:d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p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𝑤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zh-CN" i="1">
                                                <a:latin typeface="Cambria Math" panose="02040503050406030204" charset="0"/>
                                                <a:cs typeface="Cambria Math" panose="02040503050406030204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  <m:sup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1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sSup>
                                  <m:s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pPr>
                                  <m:e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mPr>
                            <m:mr>
                              <m:e>
                                <m:sSubSup>
                                  <m:sSub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0</m:t>
                                </m:r>
                              </m:e>
                              <m:e>
                                <m:sSubSup>
                                  <m:sSubSupPr>
                                    <m:ctrlP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𝜎</m:t>
                                    </m:r>
                                  </m:e>
                                  <m:sub>
                                    <m:sSub>
                                      <m:sSubPr>
                                        <m:ctrlP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en-US" altLang="zh-CN" i="1">
                                            <a:latin typeface="Cambria Math" panose="02040503050406030204" charset="0"/>
                                            <a:cs typeface="Cambria Math" panose="02040503050406030204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sub>
                                  <m:sup>
                                    <m:r>
                                      <a:rPr lang="en-US" altLang="zh-CN" i="1">
                                        <a:latin typeface="Cambria Math" panose="02040503050406030204" charset="0"/>
                                        <a:cs typeface="Cambria Math" panose="02040503050406030204" charset="0"/>
                                      </a:rPr>
                                      <m:t>2</m:t>
                                    </m:r>
                                  </m:sup>
                                </m:sSub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675" y="4168140"/>
                <a:ext cx="5622925" cy="181737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836295" y="4272915"/>
                <a:ext cx="2473960" cy="3797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假设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mPr>
                              <m:mr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  <m:e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295" y="4272915"/>
                <a:ext cx="2473960" cy="37973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7055" y="767715"/>
                <a:ext cx="4064000" cy="64516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763905" y="1880870"/>
                <a:ext cx="9558655" cy="9512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由于状态方程中的噪声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𝑤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未知，因此只能得到一个的估计值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（先验估计），前一状态的真实值无法得到因此表示为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（前一状态的估计值）。</a:t>
                </a:r>
                <a:r>
                  <a:rPr lang="zh-CN" altLang="en-US">
                    <a:sym typeface="+mn-ea"/>
                  </a:rPr>
                  <a:t>由于测量存在噪声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𝑣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，因此测量值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𝑚𝑒𝑎</m:t>
                            </m:r>
                          </m:sub>
                        </m:sSub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  <a:sym typeface="+mn-ea"/>
                  </a:rPr>
                  <a:t>也存在误差。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905" y="1880870"/>
                <a:ext cx="9558655" cy="95123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2552700" y="2888615"/>
                <a:ext cx="6096000" cy="67246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𝐵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𝑢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𝑚𝑒𝑎</m:t>
                              </m:r>
                            </m:sub>
                          </m:sSub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2700" y="2888615"/>
                <a:ext cx="6096000" cy="67246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887730" y="3889375"/>
            <a:ext cx="16656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后验</a:t>
            </a:r>
            <a:r>
              <a:rPr lang="zh-CN" altLang="en-US"/>
              <a:t>估计：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3686175" y="4674870"/>
                <a:ext cx="4064000" cy="6457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175" y="4674870"/>
                <a:ext cx="4064000" cy="645795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95045" y="60896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求</a:t>
            </a:r>
            <a:r>
              <a:rPr lang="zh-CN" altLang="en-US"/>
              <a:t>后验估计：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3686175" y="1163320"/>
                <a:ext cx="406400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acc>
                            <m:acc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</m:acc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6175" y="1163320"/>
                <a:ext cx="406400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本框 4"/>
              <p:cNvSpPr txBox="1"/>
              <p:nvPr/>
            </p:nvSpPr>
            <p:spPr>
              <a:xfrm>
                <a:off x="1087755" y="1901190"/>
                <a:ext cx="6776720" cy="12039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：表示先验估计通过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计算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得到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𝑧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：测量值，传感器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给出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𝐻</m:t>
                    </m:r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：选择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矩阵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：卡尔曼增益，需要根据先验估计和测量值的方差进行</a:t>
                </a:r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计算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7755" y="1901190"/>
                <a:ext cx="6776720" cy="120396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2" name="文本框 1"/>
              <p:cNvSpPr txBox="1"/>
              <p:nvPr/>
            </p:nvSpPr>
            <p:spPr>
              <a:xfrm>
                <a:off x="323850" y="1123950"/>
                <a:ext cx="406400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先验</a:t>
                </a:r>
                <a:r>
                  <a:rPr lang="zh-CN" altLang="en-US"/>
                  <a:t>状态误差：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2" name="文本框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1123950"/>
                <a:ext cx="406400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323850" y="1590040"/>
                <a:ext cx="40640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后验</a:t>
                </a:r>
                <a:r>
                  <a:rPr lang="zh-CN" altLang="en-US"/>
                  <a:t>状态误差：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𝑥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1590040"/>
                <a:ext cx="4064000" cy="36830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/>
          <p:cNvSpPr txBox="1"/>
          <p:nvPr/>
        </p:nvSpPr>
        <p:spPr>
          <a:xfrm>
            <a:off x="323850" y="3147060"/>
            <a:ext cx="32632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后验状态误差的协方差</a:t>
            </a:r>
            <a:r>
              <a:rPr lang="zh-CN" altLang="en-US"/>
              <a:t>矩阵：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424940" y="3713480"/>
                <a:ext cx="9897745" cy="20167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d>
                                    <m:d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𝐼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𝐾</m:t>
                                          </m:r>
                                        </m:e>
                                        <m:sub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𝐻</m:t>
                                      </m:r>
                                    </m:e>
                                  </m:d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𝐼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𝐾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𝐼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4940" y="3713480"/>
                <a:ext cx="9897745" cy="201676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本框 9"/>
              <p:cNvSpPr txBox="1"/>
              <p:nvPr/>
            </p:nvSpPr>
            <p:spPr>
              <a:xfrm>
                <a:off x="3474720" y="2070735"/>
                <a:ext cx="4064000" cy="9639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</m:d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acc>
                                <m:acc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𝑒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74720" y="2070735"/>
                <a:ext cx="4064000" cy="96393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323850" y="662305"/>
                <a:ext cx="4064000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构造损失函数：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𝑡𝑟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50" y="662305"/>
                <a:ext cx="4064000" cy="36830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/>
          <p:cNvSpPr txBox="1"/>
          <p:nvPr/>
        </p:nvSpPr>
        <p:spPr>
          <a:xfrm>
            <a:off x="4877435" y="20701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计算卡尔曼</a:t>
            </a:r>
            <a:r>
              <a:rPr lang="zh-CN" altLang="en-US"/>
              <a:t>增益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8" name="文本框 7"/>
              <p:cNvSpPr txBox="1"/>
              <p:nvPr/>
            </p:nvSpPr>
            <p:spPr>
              <a:xfrm>
                <a:off x="580390" y="491490"/>
                <a:ext cx="6553835" cy="3683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求最优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：求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的方差最小也就是求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𝑡𝑟</m:t>
                    </m:r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>
                    <a:latin typeface="Cambria Math" panose="02040503050406030204" charset="0"/>
                    <a:cs typeface="Cambria Math" panose="02040503050406030204" charset="0"/>
                  </a:rPr>
                  <a:t>最小</a:t>
                </a:r>
                <a:endParaRPr lang="zh-CN" altLang="en-US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390" y="491490"/>
                <a:ext cx="6553835" cy="36830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3155315" y="2004060"/>
                <a:ext cx="5128895" cy="9442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fPr>
                        <m:num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𝜕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𝑡𝑟</m:t>
                          </m:r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</m:den>
                      </m:f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0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solidFill>
                            <a:schemeClr val="tx1"/>
                          </a:solidFill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</m:oMath>
                  </m:oMathPara>
                </a14:m>
                <a:endParaRPr lang="en-US" altLang="zh-CN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5315" y="2004060"/>
                <a:ext cx="5128895" cy="94424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998220" y="1078230"/>
                <a:ext cx="9897745" cy="7067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2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𝑡𝑟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8220" y="1078230"/>
                <a:ext cx="9897745" cy="70675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文本框 10"/>
              <p:cNvSpPr txBox="1"/>
              <p:nvPr/>
            </p:nvSpPr>
            <p:spPr>
              <a:xfrm>
                <a:off x="1969770" y="4092575"/>
                <a:ext cx="7499350" cy="149860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𝑅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  <m:sSubSup>
                                <m:sSub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</m:sup>
                              </m:sSubSup>
                              <m:sSup>
                                <m:sSupPr>
                                  <m:ctrlP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𝐻</m:t>
                                  </m:r>
                                </m:e>
                                <m:sup>
                                  <m:r>
                                    <a:rPr lang="en-US" altLang="zh-CN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r>
                                <a:rPr lang="en-US" altLang="zh-CN" i="1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𝑅</m:t>
                              </m:r>
                            </m:e>
                          </m:d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p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𝐻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𝑅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𝐻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−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sSubSup>
                        <m:sSub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sSup>
                        <m:sSupPr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  <m:sup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𝐾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bSup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1" name="文本框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9770" y="4092575"/>
                <a:ext cx="7499350" cy="149860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xmlns:a14="http://schemas.microsoft.com/office/drawing/2010/main" Requires="a14">
          <p:sp>
            <p:nvSpPr>
              <p:cNvPr id="4" name="文本框 3"/>
              <p:cNvSpPr txBox="1"/>
              <p:nvPr/>
            </p:nvSpPr>
            <p:spPr>
              <a:xfrm>
                <a:off x="1419860" y="2079625"/>
                <a:ext cx="1931670" cy="3727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求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zh-CN" altLang="en-US"/>
                  <a:t>：</a:t>
                </a:r>
                <a:endParaRPr lang="zh-CN" altLang="en-US"/>
              </a:p>
            </p:txBody>
          </p:sp>
        </mc:Choice>
        <mc:Fallback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9860" y="2079625"/>
                <a:ext cx="1931670" cy="3727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本框 6"/>
              <p:cNvSpPr txBox="1"/>
              <p:nvPr/>
            </p:nvSpPr>
            <p:spPr>
              <a:xfrm>
                <a:off x="3496945" y="2079625"/>
                <a:ext cx="5770245" cy="15989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</m:sup>
                                  </m:sSubSup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trlP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CN" i="1">
                                              <a:latin typeface="Cambria Math" panose="02040503050406030204" charset="0"/>
                                              <a:cs typeface="Cambria Math" panose="02040503050406030204" charset="0"/>
                                            </a:rPr>
                                            <m:t>𝑥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d>
                            <m:d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d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US" altLang="zh-CN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𝑘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−</m:t>
                                      </m:r>
                                      <m:r>
                                        <a:rPr lang="en-US" altLang="zh-CN" i="1">
                                          <a:latin typeface="Cambria Math" panose="02040503050406030204" charset="0"/>
                                          <a:cs typeface="Cambria Math" panose="02040503050406030204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  <m:sSup>
                            <m:s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𝐸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  <m:sSubSup>
                            <m:sSubSup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𝑇</m:t>
                              </m:r>
                            </m:sup>
                          </m:sSubSup>
                        </m:e>
                      </m:d>
                    </m:oMath>
                    <m:oMath xmlns:m="http://schemas.openxmlformats.org/officeDocument/2006/math"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𝐴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𝑄</m:t>
                      </m:r>
                    </m:oMath>
                  </m:oMathPara>
                </a14:m>
                <a:endParaRPr lang="zh-CN" altLang="en-US"/>
              </a:p>
            </p:txBody>
          </p:sp>
        </mc:Choice>
        <mc:Fallback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945" y="2079625"/>
                <a:ext cx="5770245" cy="159893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文本框 4"/>
          <p:cNvSpPr txBox="1"/>
          <p:nvPr/>
        </p:nvSpPr>
        <p:spPr>
          <a:xfrm>
            <a:off x="661035" y="47307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预测：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本框 5"/>
              <p:cNvSpPr txBox="1"/>
              <p:nvPr/>
            </p:nvSpPr>
            <p:spPr>
              <a:xfrm>
                <a:off x="1668780" y="1022350"/>
                <a:ext cx="4719955" cy="665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先验估计：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𝐵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𝑢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先验误差协方差：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𝐴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  <m:sSup>
                      <m:s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</m:e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𝑄</m:t>
                    </m:r>
                  </m:oMath>
                </a14:m>
                <a:endParaRPr lang="zh-CN" altLang="en-US"/>
              </a:p>
            </p:txBody>
          </p:sp>
        </mc:Choice>
        <mc:Fallback>
          <p:sp>
            <p:nvSpPr>
              <p:cNvPr id="6" name="文本框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780" y="1022350"/>
                <a:ext cx="4719955" cy="665480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/>
          <p:cNvSpPr txBox="1"/>
          <p:nvPr/>
        </p:nvSpPr>
        <p:spPr>
          <a:xfrm>
            <a:off x="661035" y="206184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校正：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文本框 8"/>
              <p:cNvSpPr txBox="1"/>
              <p:nvPr/>
            </p:nvSpPr>
            <p:spPr>
              <a:xfrm>
                <a:off x="1668780" y="2623820"/>
                <a:ext cx="4966335" cy="6654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卡尔曼增益：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solidFill>
                          <a:schemeClr val="tx1"/>
                        </a:solidFill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Sup>
                      <m:sSub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sSup>
                      <m:s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dPr>
                          <m:e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𝐻</m:t>
                            </m:r>
                            <m:sSubSup>
                              <m:sSubSup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−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𝐻</m:t>
                                </m:r>
                              </m:e>
                              <m:sup>
                                <m:r>
                                  <a:rPr lang="en-US" altLang="zh-CN" i="1">
                                    <a:solidFill>
                                      <a:schemeClr val="tx1"/>
                                    </a:solidFill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+</m:t>
                            </m:r>
                            <m:r>
                              <a:rPr lang="en-US" altLang="zh-CN" i="1">
                                <a:solidFill>
                                  <a:schemeClr val="tx1"/>
                                </a:solidFill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𝑅</m:t>
                            </m:r>
                          </m:e>
                        </m:d>
                      </m:e>
                      <m:sup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p>
                    </m:sSup>
                  </m:oMath>
                </a14:m>
                <a:endParaRPr lang="en-US" altLang="zh-CN" i="1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>
                    <a:solidFill>
                      <a:schemeClr val="tx1"/>
                    </a:solidFill>
                    <a:latin typeface="Cambria Math" panose="02040503050406030204" charset="0"/>
                    <a:cs typeface="Cambria Math" panose="02040503050406030204" charset="0"/>
                  </a:rPr>
                  <a:t>后验估计：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=</m:t>
                    </m:r>
                    <m:sSubSup>
                      <m:sSubSup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Sup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  <m:sup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</m:sup>
                    </m:sSubSup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𝐾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sSubSup>
                          <m:sSubSup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bSupPr>
                          <m:e>
                            <m:acc>
                              <m:accPr>
                                <m:ctrlP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i="1">
                                    <a:latin typeface="Cambria Math" panose="02040503050406030204" charset="0"/>
                                    <a:cs typeface="Cambria Math" panose="02040503050406030204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−</m:t>
                            </m:r>
                          </m:sup>
                        </m:sSubSup>
                      </m:e>
                    </m:d>
                  </m:oMath>
                </a14:m>
                <a:endParaRPr lang="zh-CN" altLang="en-US">
                  <a:solidFill>
                    <a:schemeClr val="tx1"/>
                  </a:solidFill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8780" y="2623820"/>
                <a:ext cx="4966335" cy="66548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文本框 10"/>
          <p:cNvSpPr txBox="1"/>
          <p:nvPr/>
        </p:nvSpPr>
        <p:spPr>
          <a:xfrm>
            <a:off x="661035" y="3909695"/>
            <a:ext cx="27216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更新后验协方差矩阵：</a:t>
            </a:r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文本框 11"/>
              <p:cNvSpPr txBox="1"/>
              <p:nvPr/>
            </p:nvSpPr>
            <p:spPr>
              <a:xfrm>
                <a:off x="1878965" y="4416425"/>
                <a:ext cx="3498850" cy="37274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d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𝐼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altLang="zh-CN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𝐻</m:t>
                          </m:r>
                        </m:e>
                      </m:d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𝑃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</m:sup>
                      </m:sSubSup>
                    </m:oMath>
                  </m:oMathPara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2" name="文本框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8965" y="4416425"/>
                <a:ext cx="3498850" cy="372745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7473950" y="1078230"/>
                <a:ext cx="4064000" cy="119888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zh-CN" altLang="en-US"/>
                  <a:t>超</a:t>
                </a:r>
                <a:r>
                  <a:rPr lang="zh-CN" altLang="en-US"/>
                  <a:t>参：</a:t>
                </a:r>
                <a:endParaRPr lang="zh-CN" altLang="en-US"/>
              </a:p>
              <a:p>
                <a:r>
                  <a:rPr lang="zh-CN" altLang="en-US"/>
                  <a:t>初始</a:t>
                </a:r>
                <a:r>
                  <a:rPr lang="zh-CN" altLang="en-US"/>
                  <a:t>状态估计：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acc>
                          <m:accPr>
                            <m:ctrlP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accPr>
                          <m:e>
                            <m:r>
                              <a:rPr lang="en-US" altLang="zh-CN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zh-CN" altLang="en-US"/>
              </a:p>
              <a:p>
                <a:r>
                  <a:rPr lang="zh-CN" altLang="en-US"/>
                  <a:t>初始状态估计误差协方差：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𝑃</m:t>
                        </m:r>
                      </m:e>
                      <m:sub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𝑘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−</m:t>
                        </m:r>
                        <m:r>
                          <a:rPr lang="en-US" altLang="zh-CN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1</m:t>
                        </m:r>
                      </m:sub>
                    </m:sSub>
                  </m:oMath>
                </a14:m>
                <a:endParaRPr lang="en-US" altLang="zh-CN" i="1">
                  <a:latin typeface="Cambria Math" panose="02040503050406030204" charset="0"/>
                  <a:cs typeface="Cambria Math" panose="02040503050406030204" charset="0"/>
                </a:endParaRPr>
              </a:p>
              <a:p>
                <a:r>
                  <a:rPr lang="zh-CN" altLang="en-US"/>
                  <a:t>测量误差协方差矩阵：</a:t>
                </a:r>
                <a14:m>
                  <m:oMath xmlns:m="http://schemas.openxmlformats.org/officeDocument/2006/math">
                    <m:r>
                      <a:rPr lang="en-US" altLang="zh-CN" i="1">
                        <a:latin typeface="Cambria Math" panose="02040503050406030204" charset="0"/>
                        <a:cs typeface="Cambria Math" panose="02040503050406030204" charset="0"/>
                      </a:rPr>
                      <m:t>𝑄</m:t>
                    </m:r>
                  </m:oMath>
                </a14:m>
                <a:endParaRPr lang="en-US" altLang="zh-CN"/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3950" y="1078230"/>
                <a:ext cx="4064000" cy="119888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3670</Words>
  <Application>WPS 演示</Application>
  <PresentationFormat>宽屏</PresentationFormat>
  <Paragraphs>89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6" baseType="lpstr">
      <vt:lpstr>Arial</vt:lpstr>
      <vt:lpstr>宋体</vt:lpstr>
      <vt:lpstr>Wingdings</vt:lpstr>
      <vt:lpstr>Cambria Math</vt:lpstr>
      <vt:lpstr>微软雅黑</vt:lpstr>
      <vt:lpstr>Calibri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JJ Z</dc:creator>
  <cp:lastModifiedBy>ZJJ</cp:lastModifiedBy>
  <cp:revision>340</cp:revision>
  <dcterms:created xsi:type="dcterms:W3CDTF">2023-08-09T12:44:00Z</dcterms:created>
  <dcterms:modified xsi:type="dcterms:W3CDTF">2025-12-31T09:15:15Z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0FFB374EF87741258E9EC42A4DEF22FC_13</vt:lpwstr>
  </property>
</Properties>
</file>