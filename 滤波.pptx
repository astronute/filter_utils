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3"/>
    <p:sldId id="272" r:id="rId4"/>
    <p:sldId id="273" r:id="rId5"/>
    <p:sldId id="277" r:id="rId6"/>
    <p:sldId id="274" r:id="rId7"/>
    <p:sldId id="275" r:id="rId8"/>
    <p:sldId id="278" r:id="rId9"/>
    <p:sldId id="276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9"/>
    <p:sldId id="287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3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213"/>
        <p:guide pos="38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10565" y="415925"/>
            <a:ext cx="1945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卡尔曼</a:t>
            </a:r>
            <a:r>
              <a:rPr lang="zh-CN" altLang="en-US"/>
              <a:t>滤波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10565" y="1031240"/>
            <a:ext cx="793496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前提：</a:t>
            </a:r>
            <a:endParaRPr lang="zh-CN" altLang="en-US"/>
          </a:p>
          <a:p>
            <a:r>
              <a:rPr lang="en-US" altLang="zh-CN"/>
              <a:t>1</a:t>
            </a:r>
            <a:r>
              <a:rPr lang="zh-CN" altLang="en-US"/>
              <a:t>、系统的状态转移模型和观测模型是线性的，</a:t>
            </a:r>
            <a:r>
              <a:rPr lang="zh-CN" altLang="en-US">
                <a:sym typeface="+mn-ea"/>
              </a:rPr>
              <a:t>系统状态转移模型准确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、过程噪声和测量噪声满足零均值正态分布且相互</a:t>
            </a:r>
            <a:r>
              <a:rPr lang="zh-CN" altLang="en-US"/>
              <a:t>独立</a:t>
            </a:r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、初始状态估计是无偏的，初始协方差</a:t>
            </a:r>
            <a:r>
              <a:rPr lang="zh-CN" altLang="en-US"/>
              <a:t>准确</a:t>
            </a:r>
            <a:endParaRPr lang="zh-CN" altLang="en-US"/>
          </a:p>
          <a:p>
            <a:r>
              <a:rPr lang="en-US" altLang="zh-CN"/>
              <a:t>4</a:t>
            </a:r>
            <a:r>
              <a:rPr lang="zh-CN" altLang="en-US"/>
              <a:t>、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88035" y="3098165"/>
            <a:ext cx="865251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原理：</a:t>
            </a:r>
            <a:endParaRPr lang="zh-CN" altLang="en-US"/>
          </a:p>
          <a:p>
            <a:r>
              <a:rPr lang="zh-CN" altLang="en-US"/>
              <a:t>预测值和测量值都满足正态分布，</a:t>
            </a:r>
            <a:r>
              <a:rPr lang="zh-CN" altLang="en-US">
                <a:sym typeface="+mn-ea"/>
              </a:rPr>
              <a:t>预测值</a:t>
            </a:r>
            <a:r>
              <a:rPr lang="en-US" altLang="zh-CN">
                <a:sym typeface="+mn-ea"/>
              </a:rPr>
              <a:t>=</a:t>
            </a:r>
            <a:r>
              <a:rPr lang="zh-CN" altLang="en-US">
                <a:sym typeface="+mn-ea"/>
              </a:rPr>
              <a:t>前一预测值和测量值的加权。</a:t>
            </a:r>
            <a:endParaRPr lang="zh-CN" altLang="en-US">
              <a:sym typeface="+mn-ea"/>
            </a:endParaRPr>
          </a:p>
          <a:p>
            <a:r>
              <a:rPr lang="zh-CN" altLang="en-US"/>
              <a:t>构造代价函数：预测值的方差，只要预测值的方差越小则预测准确度越高（因为预测是无偏的所以当预测值的方差越小预测值的误差波动最小，预测方差不可能为</a:t>
            </a:r>
            <a:r>
              <a:rPr lang="en-US" altLang="zh-CN"/>
              <a:t>0</a:t>
            </a:r>
            <a:r>
              <a:rPr lang="zh-CN" altLang="en-US"/>
              <a:t>只会通过求解最优的</a:t>
            </a:r>
            <a:r>
              <a:rPr lang="en-US" altLang="zh-CN"/>
              <a:t>K</a:t>
            </a:r>
            <a:r>
              <a:rPr lang="zh-CN" altLang="en-US"/>
              <a:t>使其接近</a:t>
            </a:r>
            <a:r>
              <a:rPr lang="en-US" altLang="zh-CN"/>
              <a:t>0</a:t>
            </a:r>
            <a:r>
              <a:rPr lang="zh-CN" altLang="en-US"/>
              <a:t>）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17220" y="4845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状态方程和测量</a:t>
            </a:r>
            <a:r>
              <a:rPr lang="zh-CN" altLang="en-US"/>
              <a:t>方程：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3107055" y="767715"/>
                <a:ext cx="4064000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𝐴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𝐵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𝐻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7055" y="767715"/>
                <a:ext cx="4064000" cy="64516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959485" y="1934845"/>
                <a:ext cx="8815070" cy="1476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：表示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k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时刻的真实值（基于前一时刻的状态、输入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和噪声进行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推算）</a:t>
                </a:r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：表示过程噪声，假设满足正态分布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P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𝑤</m:t>
                        </m:r>
                      </m:e>
                    </m:d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~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𝒩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𝑄</m:t>
                        </m:r>
                      </m:e>
                    </m:d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;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均值为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0(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𝐸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𝑤</m:t>
                        </m:r>
                      </m:e>
                    </m:d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)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，方差为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Q(w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为多维向量则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Q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表示它的协方差矩阵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)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𝑧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k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时刻的观测值，由于测量噪声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它与真实值之间存在误差，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P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𝑣</m:t>
                        </m:r>
                      </m:e>
                    </m:d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~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𝒩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</m:d>
                  </m:oMath>
                </a14:m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485" y="1934845"/>
                <a:ext cx="8815070" cy="14763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3241675" y="4168140"/>
                <a:ext cx="5622925" cy="18173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𝑄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𝐶𝑜𝑣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𝑉𝑎𝑟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𝐶𝑜𝑣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𝐶𝑜𝑣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𝑉𝑎𝑟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675" y="4168140"/>
                <a:ext cx="5622925" cy="181737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836295" y="4272915"/>
                <a:ext cx="2473960" cy="379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假设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𝑤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</m:oMath>
                </a14:m>
                <a:endParaRPr lang="zh-CN" altLang="en-US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95" y="4272915"/>
                <a:ext cx="2473960" cy="37973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3107055" y="767715"/>
                <a:ext cx="4064000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𝐴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𝐵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𝐻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7055" y="767715"/>
                <a:ext cx="4064000" cy="64516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763905" y="1880870"/>
                <a:ext cx="9558655" cy="951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由于状态方程中的噪声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𝑤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未知，因此只能得到一个的估计值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acc>
                          <m:acc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（先验估计），前一状态的真实值无法得到因此表示为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acc>
                          <m:acc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（前一状态的估计值）。</a:t>
                </a:r>
                <a:r>
                  <a:rPr lang="zh-CN" altLang="en-US">
                    <a:sym typeface="+mn-ea"/>
                  </a:rPr>
                  <a:t>由于测量存在噪声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𝑣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，因此测量值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acc>
                          <m:acc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𝑚𝑒𝑎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也存在误差。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05" y="1880870"/>
                <a:ext cx="9558655" cy="95123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2552700" y="2888615"/>
                <a:ext cx="6096000" cy="67246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acc>
                            <m:acc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𝐴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𝐵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𝑚𝑒𝑎</m:t>
                              </m:r>
                            </m:sub>
                          </m:sSub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p>
                      </m:sSup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700" y="2888615"/>
                <a:ext cx="6096000" cy="6724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887730" y="3889375"/>
            <a:ext cx="1665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后验</a:t>
            </a:r>
            <a:r>
              <a:rPr lang="zh-CN" altLang="en-US"/>
              <a:t>估计：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3686175" y="4674870"/>
                <a:ext cx="4064000" cy="6457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acc>
                            <m:acc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𝐻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</m:sup>
                          </m:sSubSup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acc>
                            <m:acc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6175" y="4674870"/>
                <a:ext cx="4064000" cy="64579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95045" y="6089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求</a:t>
            </a:r>
            <a:r>
              <a:rPr lang="zh-CN" altLang="en-US"/>
              <a:t>后验估计：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3686175" y="1163320"/>
                <a:ext cx="4064000" cy="3727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acc>
                            <m:acc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6175" y="1163320"/>
                <a:ext cx="4064000" cy="37274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1087755" y="1901190"/>
                <a:ext cx="6776720" cy="1203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acc>
                          <m:acc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：表示先验估计通过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acc>
                          <m:acc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acc>
                          <m:acc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𝐵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𝑢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计算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得到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𝑧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：测量值，传感器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给出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𝐻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：选择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矩阵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𝐾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：卡尔曼增益，需要根据先验估计和测量值的方差进行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计算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755" y="1901190"/>
                <a:ext cx="6776720" cy="120396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323850" y="1123950"/>
                <a:ext cx="4064000" cy="3727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先验</a:t>
                </a:r>
                <a:r>
                  <a:rPr lang="zh-CN" altLang="en-US"/>
                  <a:t>状态误差：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acc>
                          <m:acc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</m:sup>
                    </m:sSubSup>
                  </m:oMath>
                </a14:m>
                <a:endParaRPr lang="zh-CN" altLang="en-US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" y="1123950"/>
                <a:ext cx="4064000" cy="37274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323850" y="1590040"/>
                <a:ext cx="40640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后验</a:t>
                </a:r>
                <a:r>
                  <a:rPr lang="zh-CN" altLang="en-US"/>
                  <a:t>状态误差：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acc>
                          <m:acc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</m:oMath>
                </a14:m>
                <a:endParaRPr lang="zh-CN" altLang="en-US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" y="1590040"/>
                <a:ext cx="4064000" cy="3683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323850" y="3147060"/>
            <a:ext cx="3263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后验状态误差的协方差</a:t>
            </a:r>
            <a:r>
              <a:rPr lang="zh-CN" altLang="en-US"/>
              <a:t>矩阵：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424940" y="3713480"/>
                <a:ext cx="9897745" cy="20167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bSup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𝐼</m:t>
                                  </m:r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𝐻</m:t>
                                  </m:r>
                                </m:e>
                              </m:d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</m:sup>
                              </m:sSub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𝐼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𝐾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𝐻</m:t>
                                      </m:r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−</m:t>
                                      </m:r>
                                    </m:sup>
                                  </m:sSubSup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𝐻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−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𝐼</m:t>
                                  </m:r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𝐻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𝐻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−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𝐼</m:t>
                                  </m:r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𝐻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bSup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𝐼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𝐸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−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𝐻</m:t>
                              </m:r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𝐸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bSup>
                        </m:e>
                      </m:d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𝐼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</m:e>
                      </m:d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𝐼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bSup>
                        </m:e>
                      </m:d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𝑅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𝐻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𝐻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𝑅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940" y="3713480"/>
                <a:ext cx="9897745" cy="201676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3474720" y="2070735"/>
                <a:ext cx="4064000" cy="9639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</m:sup>
                          </m:sSub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𝐻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𝐻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𝐼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</m:e>
                      </m:d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</m:sup>
                          </m:sSubSup>
                        </m:e>
                      </m:d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𝐼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</m:e>
                      </m:d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4720" y="2070735"/>
                <a:ext cx="4064000" cy="96393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323850" y="662305"/>
                <a:ext cx="40640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构造损失函数：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𝑡𝑟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zh-CN" altLang="en-US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" y="662305"/>
                <a:ext cx="4064000" cy="3683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/>
          <p:cNvSpPr txBox="1"/>
          <p:nvPr/>
        </p:nvSpPr>
        <p:spPr>
          <a:xfrm>
            <a:off x="4877435" y="2070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计算卡尔曼</a:t>
            </a:r>
            <a:r>
              <a:rPr lang="zh-CN" altLang="en-US"/>
              <a:t>增益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580390" y="491490"/>
                <a:ext cx="655383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求最优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𝐾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的方差最小也就是求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𝑡𝑟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最小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390" y="491490"/>
                <a:ext cx="6553835" cy="3683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3155315" y="2004060"/>
                <a:ext cx="5128895" cy="944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𝑡𝑟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𝐻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𝐻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𝑅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  <m:sSup>
                        <m:s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𝐻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+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𝑅</m:t>
                              </m:r>
                            </m:e>
                          </m:d>
                        </m:e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5315" y="2004060"/>
                <a:ext cx="5128895" cy="94424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998220" y="1078230"/>
                <a:ext cx="9897745" cy="706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𝑡𝑟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𝑡𝑟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</m:sup>
                          </m:sSub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</m:sup>
                          </m:sSub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bSup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𝑡𝑟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</m:sup>
                          </m:sSubSup>
                        </m:e>
                      </m:d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𝑡𝑟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</m:sup>
                          </m:sSubSup>
                        </m:e>
                      </m:d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𝑡𝑟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bSup>
                        </m:e>
                      </m:d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𝑡𝑟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20" y="1078230"/>
                <a:ext cx="9897745" cy="70675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969770" y="4092575"/>
                <a:ext cx="7499350" cy="14986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𝐻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𝐻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𝑅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𝐻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</m:t>
                          </m:r>
                        </m:e>
                      </m:d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𝐻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  <m:sSup>
                        <m:s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𝐻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+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𝑅</m:t>
                              </m:r>
                            </m:e>
                          </m:d>
                        </m:e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</m:t>
                          </m:r>
                        </m:e>
                      </m:d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𝐻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  <m:sSup>
                        <m:s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𝐼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</m:e>
                      </m:d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9770" y="4092575"/>
                <a:ext cx="7499350" cy="14986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419860" y="2079625"/>
                <a:ext cx="1931670" cy="3727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求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zh-CN" altLang="en-US"/>
                  <a:t>：</a:t>
                </a:r>
                <a:endParaRPr lang="zh-CN" altLang="en-US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860" y="2079625"/>
                <a:ext cx="1931670" cy="37274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3496945" y="2079625"/>
                <a:ext cx="5770245" cy="15989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−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𝐸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𝐴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𝐴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trlP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𝐸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𝐴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𝐸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𝐸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</m:sup>
                          </m:sSubSup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𝐴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𝑄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6945" y="2079625"/>
                <a:ext cx="5770245" cy="159893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661035" y="4730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预测：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668780" y="1022350"/>
                <a:ext cx="4719955" cy="665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先验估计：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acc>
                          <m:acc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acc>
                          <m:acc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𝐵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𝑢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zh-CN" altLang="en-US"/>
                  <a:t>先验误差协方差：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𝑄</m:t>
                    </m:r>
                  </m:oMath>
                </a14:m>
                <a:endParaRPr lang="zh-CN" altLang="en-US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780" y="1022350"/>
                <a:ext cx="4719955" cy="66548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661035" y="20618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校正：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1668780" y="2623820"/>
                <a:ext cx="4966335" cy="665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卡尔曼增益：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𝐾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Sup>
                      <m:sSubSup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</m:sup>
                    </m:sSubSup>
                    <m:sSup>
                      <m:sSup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𝐻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𝐻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𝑅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p>
                    </m:sSup>
                  </m:oMath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后验估计：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acc>
                          <m:acc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acc>
                          <m:acc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𝐾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𝐻</m:t>
                        </m:r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trlP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</m:sup>
                        </m:sSubSup>
                      </m:e>
                    </m:d>
                  </m:oMath>
                </a14:m>
                <a:endParaRPr lang="zh-CN" altLang="en-US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780" y="2623820"/>
                <a:ext cx="4966335" cy="66548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661035" y="3909695"/>
            <a:ext cx="2721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更新后验协方差矩阵：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1878965" y="4416425"/>
                <a:ext cx="3498850" cy="37274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𝐼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𝐻</m:t>
                          </m:r>
                        </m:e>
                      </m:d>
                      <m:sSubSup>
                        <m:sSub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</m:sup>
                      </m:sSubSup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8965" y="4416425"/>
                <a:ext cx="3498850" cy="37274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7473950" y="1078230"/>
                <a:ext cx="4064000" cy="1198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超</a:t>
                </a:r>
                <a:r>
                  <a:rPr lang="zh-CN" altLang="en-US"/>
                  <a:t>参：</a:t>
                </a:r>
                <a:endParaRPr lang="zh-CN" altLang="en-US"/>
              </a:p>
              <a:p>
                <a:r>
                  <a:rPr lang="zh-CN" altLang="en-US"/>
                  <a:t>初始</a:t>
                </a:r>
                <a:r>
                  <a:rPr lang="zh-CN" altLang="en-US"/>
                  <a:t>状态估计：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acc>
                          <m:acc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/>
              </a:p>
              <a:p>
                <a:r>
                  <a:rPr lang="zh-CN" altLang="en-US"/>
                  <a:t>初始状态估计误差协方差：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zh-CN" altLang="en-US"/>
                  <a:t>测量误差协方差矩阵：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𝑄</m:t>
                    </m:r>
                  </m:oMath>
                </a14:m>
                <a:endParaRPr lang="en-US" altLang="zh-CN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3950" y="1078230"/>
                <a:ext cx="4064000" cy="119888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985770" y="2383155"/>
            <a:ext cx="564007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800"/>
              <a:t>状态估计</a:t>
            </a:r>
            <a:endParaRPr lang="zh-CN" altLang="en-US" sz="8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35330" y="405130"/>
            <a:ext cx="8323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刚体旋转的定义：刚体绕着一条空间中的直线（</a:t>
            </a:r>
            <a:r>
              <a:rPr lang="zh-CN" altLang="en-US">
                <a:sym typeface="+mn-ea"/>
              </a:rPr>
              <a:t>旋转轴</a:t>
            </a:r>
            <a:r>
              <a:rPr lang="zh-CN" altLang="en-US">
                <a:sym typeface="+mn-ea"/>
              </a:rPr>
              <a:t>）</a:t>
            </a:r>
            <a:r>
              <a:rPr lang="zh-CN" altLang="en-US">
                <a:sym typeface="+mn-ea"/>
              </a:rPr>
              <a:t>顺时针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逆时针旋转。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35330" y="1189990"/>
            <a:ext cx="73469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旋转轴：由旋转轴上任意一点和一个方向矢量</a:t>
            </a:r>
            <a:r>
              <a:rPr lang="en-US" altLang="zh-CN"/>
              <a:t>(</a:t>
            </a:r>
            <a:r>
              <a:rPr lang="zh-CN" altLang="en-US"/>
              <a:t>角速度矢量</a:t>
            </a:r>
            <a:r>
              <a:rPr lang="en-US" altLang="zh-CN"/>
              <a:t>)</a:t>
            </a:r>
            <a:r>
              <a:rPr lang="zh-CN" altLang="en-US"/>
              <a:t>确定。</a:t>
            </a:r>
            <a:endParaRPr lang="zh-CN" altLang="en-US"/>
          </a:p>
          <a:p>
            <a:r>
              <a:rPr lang="zh-CN" altLang="en-US"/>
              <a:t>角速度</a:t>
            </a:r>
            <a:r>
              <a:rPr lang="zh-CN" altLang="en-US"/>
              <a:t>矢量：角速度的方向沿着旋转轴</a:t>
            </a:r>
            <a:r>
              <a:rPr lang="en-US" altLang="zh-CN"/>
              <a:t>(</a:t>
            </a:r>
            <a:r>
              <a:rPr lang="zh-CN" altLang="en-US"/>
              <a:t>右手系</a:t>
            </a:r>
            <a:r>
              <a:rPr lang="en-US" altLang="zh-CN"/>
              <a:t>)</a:t>
            </a:r>
            <a:r>
              <a:rPr lang="zh-CN" altLang="en-US"/>
              <a:t>；大小等于单位时间转过的</a:t>
            </a:r>
            <a:r>
              <a:rPr lang="zh-CN" altLang="en-US"/>
              <a:t>角度。</a:t>
            </a:r>
            <a:endParaRPr lang="zh-CN" altLang="en-US"/>
          </a:p>
          <a:p>
            <a:r>
              <a:rPr lang="zh-CN" altLang="en-US"/>
              <a:t>质点线速度：刚体上某个质点的瞬时运动方向，与角速度方向垂直。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3503930" y="3009900"/>
                <a:ext cx="4064000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𝑣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𝑤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𝑟</m:t>
                      </m:r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𝑠𝑖𝑛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d>
                            <m:dPr>
                              <m:begChr m:val="〈"/>
                              <m:endChr m:val="〉"/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𝑤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930" y="3009900"/>
                <a:ext cx="4064000" cy="64516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1007110" y="4126865"/>
                <a:ext cx="8545195" cy="126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𝑤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：表示角速度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矢量；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𝑟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：表示旋转轴上任意一点指向质点的向量；当旋转轴不经过原点时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𝑟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𝑝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表示质点向量，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表示旋转轴上一点；当旋转轴经过原点时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𝑟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</m:e>
                    </m:d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𝑠𝑖𝑛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𝑤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𝑟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：表示质点到旋转轴的最短距离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;</a:t>
                </a:r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10" y="4126865"/>
                <a:ext cx="8545195" cy="126301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42620" y="1282700"/>
            <a:ext cx="79400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刚体的姿态表示：用三次顺序旋转</a:t>
            </a:r>
            <a:r>
              <a:rPr lang="zh-CN" altLang="en-US">
                <a:sym typeface="+mn-ea"/>
              </a:rPr>
              <a:t>来定义姿态（</a:t>
            </a:r>
            <a:r>
              <a:rPr lang="en-US" altLang="zh-CN">
                <a:sym typeface="+mn-ea"/>
              </a:rPr>
              <a:t>yaw,pitch,roll</a:t>
            </a:r>
            <a:r>
              <a:rPr lang="zh-CN" altLang="en-US">
                <a:sym typeface="+mn-ea"/>
              </a:rPr>
              <a:t>）或者用一个四元数表示；</a:t>
            </a:r>
            <a:r>
              <a:rPr lang="en-US" altLang="zh-CN"/>
              <a:t>(</a:t>
            </a:r>
            <a:r>
              <a:rPr lang="zh-CN" altLang="en-US"/>
              <a:t>姿态表示体坐标系和世界坐标系的旋转关系不包含位置关系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42620" y="3490595"/>
            <a:ext cx="85521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传感器直接测到的是体坐标系下刚体在三个轴方向的速度，加速度以及</a:t>
            </a:r>
            <a:r>
              <a:rPr lang="zh-CN" altLang="en-US"/>
              <a:t>绕轴角速度，该</a:t>
            </a:r>
            <a:r>
              <a:rPr lang="zh-CN" altLang="en-US"/>
              <a:t>怎么转换到世界</a:t>
            </a:r>
            <a:r>
              <a:rPr lang="zh-CN" altLang="en-US"/>
              <a:t>坐标系？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42620" y="4323715"/>
            <a:ext cx="81013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根据当前姿态将体坐标系下的数据按照</a:t>
            </a:r>
            <a:r>
              <a:rPr lang="en-US" altLang="zh-CN">
                <a:sym typeface="+mn-ea"/>
              </a:rPr>
              <a:t>roll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pitch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yaw</a:t>
            </a:r>
            <a:r>
              <a:rPr lang="zh-CN" altLang="en-US">
                <a:sym typeface="+mn-ea"/>
              </a:rPr>
              <a:t>的顺序逆向旋转，使得体坐标系与世界坐标系重合，此时测量值随着坐标系旋转转换为世界坐标系下的测量值。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27025" y="3244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沿轴</a:t>
            </a:r>
            <a:r>
              <a:rPr lang="zh-CN" altLang="en-US"/>
              <a:t>向量坐标系转换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462915" y="960755"/>
                <a:ext cx="4064000" cy="906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IMU</a:t>
                </a:r>
                <a:r>
                  <a:rPr lang="zh-CN" altLang="en-US"/>
                  <a:t>加速度转世界</a:t>
                </a:r>
                <a:r>
                  <a:rPr lang="zh-CN" altLang="en-US"/>
                  <a:t>坐标系：</a:t>
                </a:r>
                <a:endParaRPr lang="zh-CN" altLang="en-US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𝑅𝑃𝑌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𝑦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𝑧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15" y="960755"/>
                <a:ext cx="4064000" cy="90614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580390" y="2141855"/>
                <a:ext cx="10758170" cy="2458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𝑏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zh-CN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sSub>
                        <m:sSubPr>
                          <m:ctrlPr>
                            <a:rPr lang="zh-CN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)+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)+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sSub>
                        <m:sSubPr>
                          <m:ctrlPr>
                            <a:rPr lang="zh-CN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𝐶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390" y="2141855"/>
                <a:ext cx="10758170" cy="24587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543560" y="5567045"/>
            <a:ext cx="2920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</a:t>
            </a:r>
            <a:r>
              <a:rPr lang="zh-CN" altLang="en-US"/>
              <a:t>是转换矩阵（正交</a:t>
            </a:r>
            <a:r>
              <a:rPr lang="zh-CN" altLang="en-US"/>
              <a:t>矩阵）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580390" y="4759960"/>
                <a:ext cx="1620520" cy="35814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zh-CN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390" y="4759960"/>
                <a:ext cx="1620520" cy="35814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462915" y="441960"/>
            <a:ext cx="8236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欧拉角角运动方程：将体坐标系下的角速度转换为姿态角变化</a:t>
            </a:r>
            <a:r>
              <a:rPr lang="zh-CN" altLang="en-US"/>
              <a:t>率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462915" y="862330"/>
                <a:ext cx="8489950" cy="4552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欧拉角变化率：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𝑏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，描述的是按照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zyx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轴顺序产生的三个角速度，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15" y="862330"/>
                <a:ext cx="8489950" cy="45529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574675" y="1483995"/>
            <a:ext cx="57702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第一次绕</a:t>
            </a:r>
            <a:r>
              <a:rPr lang="en-US" altLang="zh-CN"/>
              <a:t>Z</a:t>
            </a:r>
            <a:r>
              <a:rPr lang="zh-CN" altLang="en-US"/>
              <a:t>轴旋转，体坐标系下的角速度矢量：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2148840" y="2045970"/>
                <a:ext cx="4064000" cy="370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0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en-US" altLang="zh-CN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𝜃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840" y="2045970"/>
                <a:ext cx="4064000" cy="37020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/>
          <p:cNvSpPr txBox="1"/>
          <p:nvPr/>
        </p:nvSpPr>
        <p:spPr>
          <a:xfrm>
            <a:off x="574675" y="2609850"/>
            <a:ext cx="57702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第二次绕</a:t>
            </a:r>
            <a:r>
              <a:rPr lang="en-US" altLang="zh-CN"/>
              <a:t>Y</a:t>
            </a:r>
            <a:r>
              <a:rPr lang="zh-CN" altLang="en-US"/>
              <a:t>轴旋转，体坐标系下的角速度矢量：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2351405" y="3171825"/>
                <a:ext cx="4712970" cy="14204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0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en-US" altLang="zh-CN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𝜃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𝑌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𝑌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405" y="3171825"/>
                <a:ext cx="4712970" cy="142049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/>
          <p:cNvSpPr txBox="1"/>
          <p:nvPr/>
        </p:nvSpPr>
        <p:spPr>
          <a:xfrm>
            <a:off x="574675" y="4785995"/>
            <a:ext cx="57702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第三次绕</a:t>
            </a:r>
            <a:r>
              <a:rPr lang="en-US" altLang="zh-CN"/>
              <a:t>X</a:t>
            </a:r>
            <a:r>
              <a:rPr lang="zh-CN" altLang="en-US"/>
              <a:t>轴旋转，体坐标系下的角速度矢量：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1362710" y="5230495"/>
                <a:ext cx="6776085" cy="139001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en-US" altLang="zh-CN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𝜃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𝑋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𝑌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2710" y="5230495"/>
                <a:ext cx="6776085" cy="139001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1227455" y="741680"/>
                <a:ext cx="9199245" cy="9918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455" y="741680"/>
                <a:ext cx="9199245" cy="99187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2689860" y="2787015"/>
                <a:ext cx="6096000" cy="96710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𝑏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𝑡𝑎𝑛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𝑡𝑎𝑛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𝑠𝑖𝑛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)/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</a:rPr>
                                  <m:t>)/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𝑐𝑜𝑠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860" y="2787015"/>
                <a:ext cx="6096000" cy="96710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505460" y="930275"/>
                <a:ext cx="10159365" cy="1184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状态向量：</a:t>
                </a:r>
                <a:endParaRPr lang="zh-CN" altLang="en-US"/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𝑿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𝜙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𝜓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zh-CN" altLang="en-US"/>
                  <a:t>控制向量：</a:t>
                </a:r>
                <a:endParaRPr lang="zh-CN" altLang="en-US"/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𝒖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6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460" y="930275"/>
                <a:ext cx="10159365" cy="118491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505460" y="3040380"/>
                <a:ext cx="7155180" cy="929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𝜙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：表示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Roll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𝜃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：表示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Pitch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𝜓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：表示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Y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aw</a:t>
                </a:r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sin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s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cos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c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tan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t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位置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/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姿态：世界坐标系；速度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/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角速度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/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加速度：体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坐标系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460" y="3040380"/>
                <a:ext cx="7155180" cy="92964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42875" y="1312545"/>
                <a:ext cx="11647805" cy="39719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𝒌</m:t>
                          </m:r>
                        </m:sub>
                      </m:sSub>
                      <m:r>
                        <a:rPr lang="en-US" altLang="zh-CN" sz="12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12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𝑨</m:t>
                      </m:r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𝒌</m:t>
                          </m:r>
                          <m:r>
                            <a:rPr lang="en-US" altLang="zh-CN" sz="12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sz="12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2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12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𝑩</m:t>
                      </m:r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𝒌</m:t>
                          </m:r>
                          <m:r>
                            <a:rPr lang="en-US" altLang="zh-CN" sz="12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sz="12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2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12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12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12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𝒌</m:t>
                              </m:r>
                              <m:r>
                                <a:rPr lang="en-US" altLang="zh-CN" sz="12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sz="12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2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2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12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𝒌</m:t>
                              </m:r>
                              <m:r>
                                <a:rPr lang="en-US" altLang="zh-CN" sz="12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sz="12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sz="12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</m:oMath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12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𝑐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𝜓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𝑐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𝜃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𝑇</m:t>
                                </m:r>
                              </m:e>
                              <m:e>
                                <m:d>
                                  <m:dPr>
                                    <m:ctrlP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𝑐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𝜓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)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𝜃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)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𝜙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)−</m:t>
                                        </m:r>
                                      </m:e>
                                      <m:e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𝜓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)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𝑐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𝜙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)</m:t>
                                        </m:r>
                                      </m:e>
                                    </m:eqArr>
                                  </m:e>
                                </m:d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𝑇</m:t>
                                </m:r>
                              </m:e>
                              <m:e>
                                <m:d>
                                  <m:dPr>
                                    <m:ctrlP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𝑐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𝜓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)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𝜃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)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𝑐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𝜙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)+</m:t>
                                        </m:r>
                                      </m:e>
                                      <m:e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𝜓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)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𝜙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)</m:t>
                                        </m:r>
                                      </m:e>
                                    </m:eqArr>
                                  </m:e>
                                </m:d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𝑇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𝑐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(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𝜓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)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𝑐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(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)</m:t>
                                    </m:r>
                                    <m:sSup>
                                      <m:sSupPr>
                                        <m:ctrlP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𝑇</m:t>
                                        </m:r>
                                      </m:e>
                                      <m:sup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dPr>
                                      <m:e>
                                        <m:eqArr>
                                          <m:eqArrPr>
                                            <m:ctrlP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𝑐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𝜓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)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𝑠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𝜃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)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𝑠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𝜙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)−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𝑠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𝜓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)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𝑐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𝜙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)</m:t>
                                            </m:r>
                                          </m:e>
                                        </m:eqArr>
                                      </m:e>
                                    </m:d>
                                    <m:sSup>
                                      <m:sSupPr>
                                        <m:ctrlPr>
                                          <a:rPr lang="en-US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𝑇</m:t>
                                        </m:r>
                                      </m:e>
                                      <m:sup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dPr>
                                      <m:e>
                                        <m:eqArr>
                                          <m:eqArrPr>
                                            <m:ctrlP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𝑐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𝜓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)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𝑠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𝜃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)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𝑐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𝜙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)+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𝑠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𝜓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)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𝑠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𝜙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)</m:t>
                                            </m:r>
                                          </m:e>
                                        </m:eqArr>
                                      </m:e>
                                    </m:d>
                                    <m:sSup>
                                      <m:sSupPr>
                                        <m:ctrlPr>
                                          <a:rPr lang="en-US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𝑇</m:t>
                                        </m:r>
                                      </m:e>
                                      <m:sup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𝑠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𝜓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𝑐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𝜃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𝑇</m:t>
                                </m:r>
                              </m:e>
                              <m:e>
                                <m:d>
                                  <m:dPr>
                                    <m:ctrlP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𝜓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)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𝜃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)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𝜙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)+</m:t>
                                        </m:r>
                                      </m:e>
                                      <m:e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𝑐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𝜓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)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𝑐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𝜙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)</m:t>
                                        </m:r>
                                      </m:e>
                                    </m:eqArr>
                                  </m:e>
                                </m:d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𝑇</m:t>
                                </m:r>
                              </m:e>
                              <m:e>
                                <m:d>
                                  <m:dPr>
                                    <m:ctrlP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𝜓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)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𝜃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)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𝑐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𝜙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)−</m:t>
                                        </m:r>
                                      </m:e>
                                      <m:e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𝑐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𝜓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)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𝜙</m:t>
                                        </m:r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</a:rPr>
                                          <m:t>)</m:t>
                                        </m:r>
                                      </m:e>
                                    </m:eqArr>
                                  </m:e>
                                </m:d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𝑇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𝑠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(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𝜓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)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𝑐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(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)</m:t>
                                    </m:r>
                                    <m:sSup>
                                      <m:sSupPr>
                                        <m:ctrlP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𝑇</m:t>
                                        </m:r>
                                      </m:e>
                                      <m:sup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US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dPr>
                                      <m:e>
                                        <m:eqArr>
                                          <m:eqArrPr>
                                            <m:ctrlP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𝑠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𝜓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)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𝑠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𝜃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)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𝑠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𝜙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)+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𝑐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𝜓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)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𝑐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𝜙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)</m:t>
                                            </m:r>
                                          </m:e>
                                        </m:eqArr>
                                      </m:e>
                                    </m:d>
                                    <m:sSup>
                                      <m:sSupPr>
                                        <m:ctrlP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𝑇</m:t>
                                        </m:r>
                                      </m:e>
                                      <m:sup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dPr>
                                      <m:e>
                                        <m:eqArr>
                                          <m:eqArrPr>
                                            <m:ctrlP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𝑠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𝜓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)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𝑠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𝜃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)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𝑐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𝜙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)−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𝑐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𝜓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)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𝑠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CN" sz="1200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𝜙</m:t>
                                            </m:r>
                                            <m:r>
                                              <a:rPr lang="en-US" sz="1200" i="1">
                                                <a:latin typeface="Cambria Math" panose="02040503050406030204" charset="0"/>
                                              </a:rPr>
                                              <m:t>)</m:t>
                                            </m:r>
                                          </m:e>
                                        </m:eqArr>
                                      </m:e>
                                    </m:d>
                                    <m:sSup>
                                      <m:sSupPr>
                                        <m:ctrlP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𝑇</m:t>
                                        </m:r>
                                      </m:e>
                                      <m:sup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𝑠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𝜃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𝑐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𝜃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𝑠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𝜙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𝑐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𝜃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𝑐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𝜙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i="1">
                                        <a:latin typeface="Cambria Math" panose="02040503050406030204" charset="0"/>
                                      </a:rPr>
                                      <m:t>𝑠</m:t>
                                    </m:r>
                                    <m:r>
                                      <a:rPr lang="en-US" sz="1200" i="1">
                                        <a:latin typeface="Cambria Math" panose="02040503050406030204" charset="0"/>
                                      </a:rPr>
                                      <m:t>(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  <m:r>
                                      <a:rPr lang="en-US" sz="1200" i="1">
                                        <a:latin typeface="Cambria Math" panose="02040503050406030204" charset="0"/>
                                      </a:rPr>
                                      <m:t>)</m:t>
                                    </m:r>
                                    <m:sSup>
                                      <m:sSupPr>
                                        <m:ctrlP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𝑇</m:t>
                                        </m:r>
                                      </m:e>
                                      <m:sup>
                                        <m:r>
                                          <a:rPr lang="en-US" altLang="zh-CN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𝑐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(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)</m:t>
                                    </m:r>
                                    <m:r>
                                      <a:rPr lang="en-US" sz="1200" i="1">
                                        <a:latin typeface="Cambria Math" panose="02040503050406030204" charset="0"/>
                                      </a:rPr>
                                      <m:t>𝑠</m:t>
                                    </m:r>
                                    <m:r>
                                      <a:rPr lang="en-US" sz="1200" i="1">
                                        <a:latin typeface="Cambria Math" panose="02040503050406030204" charset="0"/>
                                      </a:rPr>
                                      <m:t>(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𝜙</m:t>
                                    </m:r>
                                    <m:r>
                                      <a:rPr lang="en-US" sz="1200" i="1">
                                        <a:latin typeface="Cambria Math" panose="02040503050406030204" charset="0"/>
                                      </a:rPr>
                                      <m:t>)</m:t>
                                    </m:r>
                                    <m:sSup>
                                      <m:sSupPr>
                                        <m:ctrlPr>
                                          <a:rPr lang="en-US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𝑇</m:t>
                                        </m:r>
                                      </m:e>
                                      <m:sup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𝑐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(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𝜃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)</m:t>
                                    </m:r>
                                    <m:r>
                                      <a:rPr lang="en-US" sz="1200" i="1">
                                        <a:latin typeface="Cambria Math" panose="02040503050406030204" charset="0"/>
                                      </a:rPr>
                                      <m:t>𝑐</m:t>
                                    </m:r>
                                    <m:r>
                                      <a:rPr lang="en-US" sz="1200" i="1">
                                        <a:latin typeface="Cambria Math" panose="02040503050406030204" charset="0"/>
                                      </a:rPr>
                                      <m:t>(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𝜙</m:t>
                                    </m:r>
                                    <m:r>
                                      <a:rPr lang="en-US" sz="1200" i="1">
                                        <a:latin typeface="Cambria Math" panose="02040503050406030204" charset="0"/>
                                      </a:rPr>
                                      <m:t>)</m:t>
                                    </m:r>
                                    <m:sSup>
                                      <m:sSupPr>
                                        <m:ctrlPr>
                                          <a:rPr lang="en-US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𝑇</m:t>
                                        </m:r>
                                      </m:e>
                                      <m:sup>
                                        <m:r>
                                          <a:rPr lang="en-US" sz="1200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𝑇</m:t>
                                </m:r>
                              </m:e>
                              <m:e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𝑠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𝜙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𝑡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𝜃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𝑇</m:t>
                                </m:r>
                              </m:e>
                              <m:e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𝑐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𝜙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𝑡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𝜃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𝑇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𝑐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𝜙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𝑇</m:t>
                                </m:r>
                              </m:e>
                              <m:e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−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𝑠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𝜙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𝑇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𝑠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𝜙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)/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𝑐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𝜃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𝑇</m:t>
                                </m:r>
                              </m:e>
                              <m:e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𝑐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𝜙</m:t>
                                </m:r>
                                <m:r>
                                  <a:rPr lang="en-US" sz="1200" i="1">
                                    <a:latin typeface="Cambria Math" panose="02040503050406030204" charset="0"/>
                                  </a:rPr>
                                  <m:t>)/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𝑐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𝜃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𝑇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𝑇</m:t>
                                </m:r>
                              </m:e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𝑇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𝑇</m:t>
                                </m:r>
                              </m:e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𝑧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𝜙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𝜃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𝜓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200" b="1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75" y="1312545"/>
                <a:ext cx="11647805" cy="3971925"/>
              </a:xfrm>
              <a:prstGeom prst="rect">
                <a:avLst/>
              </a:prstGeom>
              <a:blipFill rotWithShape="1">
                <a:blip r:embed="rId1"/>
                <a:stretch>
                  <a:fillRect r="-19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374015" y="241300"/>
            <a:ext cx="6330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假设刚体在</a:t>
            </a:r>
            <a:r>
              <a:rPr lang="en-US" altLang="zh-CN"/>
              <a:t>dt</a:t>
            </a:r>
            <a:r>
              <a:rPr lang="zh-CN" altLang="en-US"/>
              <a:t>时间内角速度</a:t>
            </a:r>
            <a:r>
              <a:rPr lang="en-US" altLang="zh-CN"/>
              <a:t>/</a:t>
            </a:r>
            <a:r>
              <a:rPr lang="zh-CN" altLang="en-US"/>
              <a:t>加速度不变，控制量</a:t>
            </a:r>
            <a:r>
              <a:rPr lang="zh-CN" altLang="en-US"/>
              <a:t>不变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87350" y="2159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状态转移矩阵</a:t>
            </a:r>
            <a:r>
              <a:rPr lang="zh-CN" altLang="en-US"/>
              <a:t>线性化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4835525" y="2081530"/>
                <a:ext cx="2053590" cy="64897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6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16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𝒌</m:t>
                          </m:r>
                        </m:sub>
                      </m:sSub>
                      <m:r>
                        <a:rPr lang="en-US" altLang="zh-CN" sz="16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≈</m:t>
                      </m:r>
                      <m:r>
                        <a:rPr lang="en-US" altLang="zh-CN" sz="1600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𝑱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b="1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1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altLang="zh-CN" sz="1600" b="1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𝒌</m:t>
                                    </m:r>
                                    <m:r>
                                      <a:rPr lang="en-US" altLang="zh-CN" sz="1600" b="1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600" b="1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b="1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1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lang="en-US" altLang="zh-CN" sz="1600" b="1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𝒌</m:t>
                                    </m:r>
                                    <m:r>
                                      <a:rPr lang="en-US" altLang="zh-CN" sz="1600" b="1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600" b="1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600" b="1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5525" y="2081530"/>
                <a:ext cx="2053590" cy="64897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7385</Words>
  <Application>WPS 演示</Application>
  <PresentationFormat>宽屏</PresentationFormat>
  <Paragraphs>157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Cambria Math</vt:lpstr>
      <vt:lpstr>微软雅黑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JJ Z</dc:creator>
  <cp:lastModifiedBy>ZJJ</cp:lastModifiedBy>
  <cp:revision>549</cp:revision>
  <dcterms:created xsi:type="dcterms:W3CDTF">2023-08-09T12:44:00Z</dcterms:created>
  <dcterms:modified xsi:type="dcterms:W3CDTF">2026-01-07T06:52:12Z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0FFB374EF87741258E9EC42A4DEF22FC_13</vt:lpwstr>
  </property>
</Properties>
</file>